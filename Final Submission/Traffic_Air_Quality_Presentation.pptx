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8" r:id="rId4"/>
    <p:sldId id="25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2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9D50-1A33-DDAE-9CF9-0A993D13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29E29-F32F-778D-3FBC-DB24C89D7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FCDC3-31E3-AAA2-CFB8-75AFDC8E5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387F3-1E78-E806-F7C4-7C54F9EB84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49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Traffic Density and Air Quality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Analysis in Istanbul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Investigating Vehicle Flow and Pollution on D-100 Highway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0" y="3840480"/>
            <a:ext cx="5486400" cy="1097280"/>
          </a:xfrm>
          <a:prstGeom prst="roundRect">
            <a:avLst/>
          </a:prstGeom>
          <a:solidFill>
            <a:srgbClr val="FFFFFF"/>
          </a:solidFill>
          <a:ln/>
        </p:spPr>
        <p:txBody>
          <a:bodyPr wrap="square" lIns="2540" tIns="2540" rIns="2540" bIns="254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</a:rPr>
              <a:t>DSA210 - Introduction to Data Science
</a:t>
            </a:r>
            <a:r>
              <a:rPr lang="en-US" sz="1400" dirty="0">
                <a:solidFill>
                  <a:srgbClr val="1A202C"/>
                </a:solidFill>
              </a:rPr>
              <a:t>Author: </a:t>
            </a:r>
            <a:r>
              <a:rPr lang="en-US" sz="1400" b="1" dirty="0">
                <a:solidFill>
                  <a:srgbClr val="1A202C"/>
                </a:solidFill>
              </a:rPr>
              <a:t>Miray Erkoç</a:t>
            </a:r>
            <a:r>
              <a:rPr lang="en-US" sz="1400" dirty="0">
                <a:solidFill>
                  <a:srgbClr val="1A202C"/>
                </a:solidFill>
              </a:rPr>
              <a:t> | Student ID: </a:t>
            </a:r>
            <a:r>
              <a:rPr lang="en-US" sz="1400" b="1" dirty="0">
                <a:solidFill>
                  <a:srgbClr val="1A202C"/>
                </a:solidFill>
              </a:rPr>
              <a:t>30815
</a:t>
            </a:r>
            <a:r>
              <a:rPr lang="en-US" sz="1400" dirty="0">
                <a:solidFill>
                  <a:srgbClr val="1A202C"/>
                </a:solidFill>
              </a:rPr>
              <a:t>Institution: </a:t>
            </a:r>
            <a:r>
              <a:rPr lang="en-US" sz="1400" b="1" dirty="0">
                <a:solidFill>
                  <a:srgbClr val="1A202C"/>
                </a:solidFill>
              </a:rPr>
              <a:t>Sabancı University
</a:t>
            </a:r>
            <a:r>
              <a:rPr lang="en-US" sz="1400" dirty="0">
                <a:solidFill>
                  <a:srgbClr val="1A202C"/>
                </a:solidFill>
              </a:rPr>
              <a:t>Semester: Fall 2025-2026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45204-C3B7-FC09-B2EF-9944CD4C3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F262AB-5826-03D6-0C3B-B35BAFC24DC8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202C"/>
                </a:solidFill>
              </a:rPr>
              <a:t>Motivation &amp; Objectives</a:t>
            </a:r>
            <a:endParaRPr lang="tr-TR" sz="3200" b="1" dirty="0">
              <a:solidFill>
                <a:srgbClr val="1A202C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2A81E1-1847-8250-5FBB-183DB618522F}"/>
              </a:ext>
            </a:extLst>
          </p:cNvPr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CFC73F-6398-F7F0-7A5F-3FDF4E70A79E}"/>
              </a:ext>
            </a:extLst>
          </p:cNvPr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905" tIns="1905" rIns="1905" bIns="1905" rtlCol="0" anchor="ctr"/>
          <a:lstStyle/>
          <a:p>
            <a:r>
              <a:rPr lang="en-US" sz="2000" b="1" dirty="0">
                <a:solidFill>
                  <a:srgbClr val="2D3748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D33AA6-E93E-1FFF-1E7B-2B675DE9F336}"/>
              </a:ext>
            </a:extLst>
          </p:cNvPr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Istanbul faces significant air quality challenges due to high traffic density, affecting millions of residents daily.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79161F-46EF-5D06-5671-C39CDA05D08D}"/>
              </a:ext>
            </a:extLst>
          </p:cNvPr>
          <p:cNvSpPr/>
          <p:nvPr/>
        </p:nvSpPr>
        <p:spPr>
          <a:xfrm>
            <a:off x="731520" y="31318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How does traffic volume affect air pollution levels?
What temporal patterns exist in traffic-pollution relationships?
Do holidays and weekends show measurable improvements?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What is the time lag between traffic and pollution?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tr-TR" sz="1300" dirty="0">
                <a:solidFill>
                  <a:srgbClr val="4A5568"/>
                </a:solidFill>
              </a:rPr>
              <a:t>How do </a:t>
            </a:r>
            <a:r>
              <a:rPr lang="tr-TR" sz="1300" dirty="0" err="1">
                <a:solidFill>
                  <a:srgbClr val="4A5568"/>
                </a:solidFill>
              </a:rPr>
              <a:t>rush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hours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affect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pollution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concentrations</a:t>
            </a:r>
            <a:r>
              <a:rPr lang="tr-TR" sz="1300" dirty="0">
                <a:solidFill>
                  <a:srgbClr val="4A5568"/>
                </a:solidFill>
              </a:rPr>
              <a:t>?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8F726EA-5395-0DC7-10F4-44897284745F}"/>
              </a:ext>
            </a:extLst>
          </p:cNvPr>
          <p:cNvSpPr/>
          <p:nvPr/>
        </p:nvSpPr>
        <p:spPr>
          <a:xfrm>
            <a:off x="731520" y="2354580"/>
            <a:ext cx="768096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905" tIns="1905" rIns="1905" bIns="1905" rtlCol="0" anchor="ctr"/>
          <a:lstStyle/>
          <a:p>
            <a:r>
              <a:rPr lang="en-US" sz="2000" b="1" dirty="0">
                <a:solidFill>
                  <a:srgbClr val="2D3748"/>
                </a:solidFill>
              </a:rPr>
              <a:t>Research Questions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8432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2468880" cy="54864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8,027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365760"/>
          </a:xfrm>
          <a:prstGeom prst="rect">
            <a:avLst/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Hourly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Observations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188720"/>
            <a:ext cx="2468880" cy="54864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52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566160" y="1828800"/>
            <a:ext cx="2468880" cy="365760"/>
          </a:xfrm>
          <a:prstGeom prst="rect">
            <a:avLst/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Total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2468880" cy="54864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334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2468880" cy="365760"/>
          </a:xfrm>
          <a:prstGeom prst="rect">
            <a:avLst/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Days of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</a:rPr>
              <a:t>Key Information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Traffic Data: Istanbul Metropolitan Municipality (İBB) Open Data Portal
Air Quality Data: İBB Air Quality Monitoring System
Location: D-100 Highway (Geohash-tracked)
Time Period: January 1 - December 31, 2024
Frequency: Hourly measurements | Completeness: &gt;95%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3200" b="1" dirty="0">
                <a:solidFill>
                  <a:srgbClr val="1A202C"/>
                </a:solidFill>
              </a:rPr>
              <a:t>DATA COLLECTION PROCESS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905" tIns="1905" rIns="1905" bIns="1905" rtlCol="0" anchor="ctr"/>
          <a:lstStyle/>
          <a:p>
            <a:r>
              <a:rPr lang="tr-TR" sz="2000" b="1" dirty="0">
                <a:solidFill>
                  <a:srgbClr val="2D3748"/>
                </a:solidFill>
              </a:rPr>
              <a:t>Collection </a:t>
            </a:r>
            <a:r>
              <a:rPr lang="tr-TR" sz="2000" b="1" dirty="0" err="1">
                <a:solidFill>
                  <a:srgbClr val="2D3748"/>
                </a:solidFill>
              </a:rPr>
              <a:t>Methods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9224" y="165735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tr-TR" sz="1300" dirty="0">
                <a:solidFill>
                  <a:srgbClr val="4A5568"/>
                </a:solidFill>
              </a:rPr>
              <a:t>API Integration </a:t>
            </a:r>
            <a:r>
              <a:rPr lang="tr-TR" sz="1300" dirty="0" err="1">
                <a:solidFill>
                  <a:srgbClr val="4A5568"/>
                </a:solidFill>
              </a:rPr>
              <a:t>with</a:t>
            </a:r>
            <a:r>
              <a:rPr lang="tr-TR" sz="1300" dirty="0">
                <a:solidFill>
                  <a:srgbClr val="4A5568"/>
                </a:solidFill>
              </a:rPr>
              <a:t> İBB Open Data Portal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tr-TR" sz="1300" dirty="0" err="1">
                <a:solidFill>
                  <a:srgbClr val="4A5568"/>
                </a:solidFill>
              </a:rPr>
              <a:t>Automated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hourly</a:t>
            </a:r>
            <a:r>
              <a:rPr lang="tr-TR" sz="1300" dirty="0">
                <a:solidFill>
                  <a:srgbClr val="4A5568"/>
                </a:solidFill>
              </a:rPr>
              <a:t> data </a:t>
            </a:r>
            <a:r>
              <a:rPr lang="tr-TR" sz="1300" dirty="0" err="1">
                <a:solidFill>
                  <a:srgbClr val="4A5568"/>
                </a:solidFill>
              </a:rPr>
              <a:t>extraction</a:t>
            </a:r>
            <a:r>
              <a:rPr lang="tr-TR" sz="1300" dirty="0">
                <a:solidFill>
                  <a:srgbClr val="4A5568"/>
                </a:solidFill>
              </a:rPr>
              <a:t> (Python </a:t>
            </a:r>
            <a:r>
              <a:rPr lang="tr-TR" sz="1300" dirty="0" err="1">
                <a:solidFill>
                  <a:srgbClr val="4A5568"/>
                </a:solidFill>
              </a:rPr>
              <a:t>scripts</a:t>
            </a:r>
            <a:r>
              <a:rPr lang="tr-TR" sz="1300" dirty="0">
                <a:solidFill>
                  <a:srgbClr val="4A5568"/>
                </a:solidFill>
              </a:rPr>
              <a:t>)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tr-TR" sz="1300" dirty="0" err="1">
                <a:solidFill>
                  <a:srgbClr val="4A5568"/>
                </a:solidFill>
              </a:rPr>
              <a:t>Geohash-based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spatial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matching</a:t>
            </a:r>
            <a:r>
              <a:rPr lang="tr-TR" sz="1300" dirty="0">
                <a:solidFill>
                  <a:srgbClr val="4A5568"/>
                </a:solidFill>
              </a:rPr>
              <a:t> (</a:t>
            </a:r>
            <a:r>
              <a:rPr lang="tr-TR" sz="1300" dirty="0" err="1">
                <a:solidFill>
                  <a:srgbClr val="4A5568"/>
                </a:solidFill>
              </a:rPr>
              <a:t>traffic</a:t>
            </a:r>
            <a:r>
              <a:rPr lang="tr-TR" sz="1300" dirty="0">
                <a:solidFill>
                  <a:srgbClr val="4A5568"/>
                </a:solidFill>
              </a:rPr>
              <a:t> + </a:t>
            </a:r>
            <a:r>
              <a:rPr lang="tr-TR" sz="1300" dirty="0" err="1">
                <a:solidFill>
                  <a:srgbClr val="4A5568"/>
                </a:solidFill>
              </a:rPr>
              <a:t>air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quality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stations</a:t>
            </a:r>
            <a:r>
              <a:rPr lang="tr-TR" sz="1300" dirty="0">
                <a:solidFill>
                  <a:srgbClr val="4A5568"/>
                </a:solidFill>
              </a:rPr>
              <a:t>)</a:t>
            </a:r>
          </a:p>
          <a:p>
            <a:pPr marL="342900" indent="-342900">
              <a:buSzPct val="100000"/>
              <a:buFontTx/>
              <a:buChar char="•"/>
            </a:pPr>
            <a:endParaRPr lang="tr-TR" sz="1300" dirty="0">
              <a:solidFill>
                <a:srgbClr val="4A5568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B6353F3-FBE5-B765-3CC6-CD693CB20129}"/>
              </a:ext>
            </a:extLst>
          </p:cNvPr>
          <p:cNvSpPr/>
          <p:nvPr/>
        </p:nvSpPr>
        <p:spPr>
          <a:xfrm>
            <a:off x="731520" y="2766060"/>
            <a:ext cx="768096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905" tIns="1905" rIns="1905" bIns="1905" rtlCol="0" anchor="ctr"/>
          <a:lstStyle/>
          <a:p>
            <a:r>
              <a:rPr lang="tr-TR" sz="2000" b="1" dirty="0" err="1">
                <a:solidFill>
                  <a:srgbClr val="2D3748"/>
                </a:solidFill>
              </a:rPr>
              <a:t>Processing</a:t>
            </a:r>
            <a:r>
              <a:rPr lang="tr-TR" sz="2000" b="1" dirty="0">
                <a:solidFill>
                  <a:srgbClr val="2D3748"/>
                </a:solidFill>
              </a:rPr>
              <a:t> </a:t>
            </a:r>
            <a:r>
              <a:rPr lang="tr-TR" sz="2000" b="1" dirty="0" err="1">
                <a:solidFill>
                  <a:srgbClr val="2D3748"/>
                </a:solidFill>
              </a:rPr>
              <a:t>Pipeline</a:t>
            </a:r>
            <a:endParaRPr lang="tr-TR" sz="2000" b="1" dirty="0">
              <a:solidFill>
                <a:srgbClr val="2D3748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33E3091-C1A3-5C08-BDD7-081841DCACE0}"/>
              </a:ext>
            </a:extLst>
          </p:cNvPr>
          <p:cNvSpPr/>
          <p:nvPr/>
        </p:nvSpPr>
        <p:spPr>
          <a:xfrm>
            <a:off x="731520" y="33604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tr-TR" sz="1300" dirty="0" err="1">
                <a:solidFill>
                  <a:srgbClr val="4A5568"/>
                </a:solidFill>
              </a:rPr>
              <a:t>Stage</a:t>
            </a:r>
            <a:r>
              <a:rPr lang="tr-TR" sz="1300" dirty="0">
                <a:solidFill>
                  <a:srgbClr val="4A5568"/>
                </a:solidFill>
              </a:rPr>
              <a:t> 1: API </a:t>
            </a:r>
            <a:r>
              <a:rPr lang="tr-TR" sz="1300" dirty="0" err="1">
                <a:solidFill>
                  <a:srgbClr val="4A5568"/>
                </a:solidFill>
              </a:rPr>
              <a:t>Extraction</a:t>
            </a:r>
            <a:r>
              <a:rPr lang="tr-TR" sz="1300" dirty="0">
                <a:solidFill>
                  <a:srgbClr val="4A5568"/>
                </a:solidFill>
              </a:rPr>
              <a:t> → </a:t>
            </a:r>
            <a:r>
              <a:rPr lang="tr-TR" sz="1300" dirty="0" err="1">
                <a:solidFill>
                  <a:srgbClr val="4A5568"/>
                </a:solidFill>
              </a:rPr>
              <a:t>Raw</a:t>
            </a:r>
            <a:r>
              <a:rPr lang="tr-TR" sz="1300" dirty="0">
                <a:solidFill>
                  <a:srgbClr val="4A5568"/>
                </a:solidFill>
              </a:rPr>
              <a:t> data (2 </a:t>
            </a:r>
            <a:r>
              <a:rPr lang="tr-TR" sz="1300" dirty="0" err="1">
                <a:solidFill>
                  <a:srgbClr val="4A5568"/>
                </a:solidFill>
              </a:rPr>
              <a:t>sources</a:t>
            </a:r>
            <a:r>
              <a:rPr lang="tr-TR" sz="1300" dirty="0">
                <a:solidFill>
                  <a:srgbClr val="4A5568"/>
                </a:solidFill>
              </a:rPr>
              <a:t>)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tr-TR" sz="1300" dirty="0" err="1">
                <a:solidFill>
                  <a:srgbClr val="4A5568"/>
                </a:solidFill>
              </a:rPr>
              <a:t>Stage</a:t>
            </a:r>
            <a:r>
              <a:rPr lang="tr-TR" sz="1300" dirty="0">
                <a:solidFill>
                  <a:srgbClr val="4A5568"/>
                </a:solidFill>
              </a:rPr>
              <a:t> 2: Integration → </a:t>
            </a:r>
            <a:r>
              <a:rPr lang="tr-TR" sz="1300" dirty="0" err="1">
                <a:solidFill>
                  <a:srgbClr val="4A5568"/>
                </a:solidFill>
              </a:rPr>
              <a:t>Merged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dataset</a:t>
            </a:r>
            <a:r>
              <a:rPr lang="tr-TR" sz="1300" dirty="0">
                <a:solidFill>
                  <a:srgbClr val="4A5568"/>
                </a:solidFill>
              </a:rPr>
              <a:t> (</a:t>
            </a:r>
            <a:r>
              <a:rPr lang="tr-TR" sz="1300" dirty="0" err="1">
                <a:solidFill>
                  <a:srgbClr val="4A5568"/>
                </a:solidFill>
              </a:rPr>
              <a:t>timestamp-based</a:t>
            </a:r>
            <a:r>
              <a:rPr lang="tr-TR" sz="1300" dirty="0">
                <a:solidFill>
                  <a:srgbClr val="4A5568"/>
                </a:solidFill>
              </a:rPr>
              <a:t>)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tr-TR" sz="1300" dirty="0" err="1">
                <a:solidFill>
                  <a:srgbClr val="4A5568"/>
                </a:solidFill>
              </a:rPr>
              <a:t>Stage</a:t>
            </a:r>
            <a:r>
              <a:rPr lang="tr-TR" sz="1300" dirty="0">
                <a:solidFill>
                  <a:srgbClr val="4A5568"/>
                </a:solidFill>
              </a:rPr>
              <a:t> 3: </a:t>
            </a:r>
            <a:r>
              <a:rPr lang="tr-TR" sz="1300" dirty="0" err="1">
                <a:solidFill>
                  <a:srgbClr val="4A5568"/>
                </a:solidFill>
              </a:rPr>
              <a:t>Enrichment</a:t>
            </a:r>
            <a:r>
              <a:rPr lang="tr-TR" sz="1300" dirty="0">
                <a:solidFill>
                  <a:srgbClr val="4A5568"/>
                </a:solidFill>
              </a:rPr>
              <a:t> → Final </a:t>
            </a:r>
            <a:r>
              <a:rPr lang="tr-TR" sz="1300" dirty="0" err="1">
                <a:solidFill>
                  <a:srgbClr val="4A5568"/>
                </a:solidFill>
              </a:rPr>
              <a:t>dataset</a:t>
            </a:r>
            <a:r>
              <a:rPr lang="tr-TR" sz="1300" dirty="0">
                <a:solidFill>
                  <a:srgbClr val="4A5568"/>
                </a:solidFill>
              </a:rPr>
              <a:t> (52 </a:t>
            </a:r>
            <a:r>
              <a:rPr lang="tr-TR" sz="1300" dirty="0" err="1">
                <a:solidFill>
                  <a:srgbClr val="4A5568"/>
                </a:solidFill>
              </a:rPr>
              <a:t>features</a:t>
            </a:r>
            <a:r>
              <a:rPr lang="tr-TR" sz="1300" dirty="0">
                <a:solidFill>
                  <a:srgbClr val="4A5568"/>
                </a:solidFill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989A8EF5-76B5-2386-04F0-125A8D992FDB}"/>
              </a:ext>
            </a:extLst>
          </p:cNvPr>
          <p:cNvSpPr txBox="1"/>
          <p:nvPr/>
        </p:nvSpPr>
        <p:spPr>
          <a:xfrm>
            <a:off x="1042416" y="4274820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dirty="0">
                <a:solidFill>
                  <a:srgbClr val="4A5568"/>
                </a:solidFill>
              </a:rPr>
              <a:t>Tools: Python (</a:t>
            </a:r>
            <a:r>
              <a:rPr lang="tr-TR" sz="1300" dirty="0" err="1">
                <a:solidFill>
                  <a:srgbClr val="4A5568"/>
                </a:solidFill>
              </a:rPr>
              <a:t>pandas</a:t>
            </a:r>
            <a:r>
              <a:rPr lang="tr-TR" sz="1300" dirty="0">
                <a:solidFill>
                  <a:srgbClr val="4A5568"/>
                </a:solidFill>
              </a:rPr>
              <a:t>, </a:t>
            </a:r>
            <a:r>
              <a:rPr lang="tr-TR" sz="1300" dirty="0" err="1">
                <a:solidFill>
                  <a:srgbClr val="4A5568"/>
                </a:solidFill>
              </a:rPr>
              <a:t>requests</a:t>
            </a:r>
            <a:r>
              <a:rPr lang="tr-TR" sz="1300" dirty="0">
                <a:solidFill>
                  <a:srgbClr val="4A5568"/>
                </a:solidFill>
              </a:rPr>
              <a:t>), </a:t>
            </a:r>
            <a:r>
              <a:rPr lang="tr-TR" sz="1300" dirty="0" err="1">
                <a:solidFill>
                  <a:srgbClr val="4A5568"/>
                </a:solidFill>
              </a:rPr>
              <a:t>custom</a:t>
            </a:r>
            <a:r>
              <a:rPr lang="tr-TR" sz="1300" dirty="0">
                <a:solidFill>
                  <a:srgbClr val="4A5568"/>
                </a:solidFill>
              </a:rPr>
              <a:t> API </a:t>
            </a:r>
            <a:r>
              <a:rPr lang="tr-TR" sz="1300" dirty="0" err="1">
                <a:solidFill>
                  <a:srgbClr val="4A5568"/>
                </a:solidFill>
              </a:rPr>
              <a:t>scripts</a:t>
            </a:r>
            <a:endParaRPr lang="tr-TR" sz="1300" dirty="0">
              <a:solidFill>
                <a:srgbClr val="4A5568"/>
              </a:solidFill>
            </a:endParaRPr>
          </a:p>
          <a:p>
            <a:r>
              <a:rPr lang="tr-TR" sz="1300" dirty="0" err="1">
                <a:solidFill>
                  <a:srgbClr val="4A5568"/>
                </a:solidFill>
              </a:rPr>
              <a:t>Quality</a:t>
            </a:r>
            <a:r>
              <a:rPr lang="tr-TR" sz="1300" dirty="0">
                <a:solidFill>
                  <a:srgbClr val="4A5568"/>
                </a:solidFill>
              </a:rPr>
              <a:t>: </a:t>
            </a:r>
            <a:r>
              <a:rPr lang="tr-TR" sz="1300" dirty="0" err="1">
                <a:solidFill>
                  <a:srgbClr val="4A5568"/>
                </a:solidFill>
              </a:rPr>
              <a:t>Error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handling</a:t>
            </a:r>
            <a:r>
              <a:rPr lang="tr-TR" sz="1300" dirty="0">
                <a:solidFill>
                  <a:srgbClr val="4A5568"/>
                </a:solidFill>
              </a:rPr>
              <a:t>, </a:t>
            </a:r>
            <a:r>
              <a:rPr lang="tr-TR" sz="1300" dirty="0" err="1">
                <a:solidFill>
                  <a:srgbClr val="4A5568"/>
                </a:solidFill>
              </a:rPr>
              <a:t>validation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checks</a:t>
            </a:r>
            <a:r>
              <a:rPr lang="tr-TR" sz="1300" dirty="0">
                <a:solidFill>
                  <a:srgbClr val="4A5568"/>
                </a:solidFill>
              </a:rPr>
              <a:t>, </a:t>
            </a:r>
            <a:r>
              <a:rPr lang="tr-TR" sz="1300" dirty="0" err="1">
                <a:solidFill>
                  <a:srgbClr val="4A5568"/>
                </a:solidFill>
              </a:rPr>
              <a:t>outlier</a:t>
            </a:r>
            <a:r>
              <a:rPr lang="tr-TR" sz="1300" dirty="0">
                <a:solidFill>
                  <a:srgbClr val="4A5568"/>
                </a:solidFill>
              </a:rPr>
              <a:t> </a:t>
            </a:r>
            <a:r>
              <a:rPr lang="tr-TR" sz="1300" dirty="0" err="1">
                <a:solidFill>
                  <a:srgbClr val="4A5568"/>
                </a:solidFill>
              </a:rPr>
              <a:t>detection</a:t>
            </a:r>
            <a:endParaRPr lang="tr-TR" sz="1300" dirty="0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00A7CDAE-64C3-D0F6-911A-5B3FED431505}"/>
              </a:ext>
            </a:extLst>
          </p:cNvPr>
          <p:cNvSpPr txBox="1"/>
          <p:nvPr/>
        </p:nvSpPr>
        <p:spPr>
          <a:xfrm>
            <a:off x="1650492" y="228856"/>
            <a:ext cx="5349240" cy="43396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tr-TR" sz="1200" dirty="0"/>
              <a:t>┌───────────────────────────────────────────────────────────┐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tr-TR" sz="1200" dirty="0"/>
              <a:t>│  Data Collection &amp; </a:t>
            </a:r>
            <a:r>
              <a:rPr lang="tr-TR" sz="1200" dirty="0" err="1"/>
              <a:t>Processing</a:t>
            </a:r>
            <a:r>
              <a:rPr lang="tr-TR" sz="1200" dirty="0"/>
              <a:t> </a:t>
            </a:r>
            <a:r>
              <a:rPr lang="tr-TR" sz="1200" dirty="0" err="1"/>
              <a:t>Pipeline</a:t>
            </a:r>
            <a:r>
              <a:rPr lang="tr-TR" sz="1200" dirty="0"/>
              <a:t>          	 	│</a:t>
            </a:r>
          </a:p>
          <a:p>
            <a:r>
              <a:rPr lang="tr-TR" sz="1200" dirty="0"/>
              <a:t>│──────────────────────────────────────────────────────────	│</a:t>
            </a:r>
          </a:p>
          <a:p>
            <a:r>
              <a:rPr lang="tr-TR" sz="1200" dirty="0"/>
              <a:t>│                                                  				│</a:t>
            </a:r>
          </a:p>
          <a:p>
            <a:r>
              <a:rPr lang="tr-TR" sz="1200" dirty="0"/>
              <a:t>│  </a:t>
            </a:r>
            <a:r>
              <a:rPr lang="tr-TR" sz="1200" dirty="0" err="1"/>
              <a:t>Stage</a:t>
            </a:r>
            <a:r>
              <a:rPr lang="tr-TR" sz="1200" dirty="0"/>
              <a:t> 1: API Data </a:t>
            </a:r>
            <a:r>
              <a:rPr lang="tr-TR" sz="1200" dirty="0" err="1"/>
              <a:t>Extraction</a:t>
            </a:r>
            <a:r>
              <a:rPr lang="tr-TR" sz="1200" dirty="0"/>
              <a:t>                   			│</a:t>
            </a:r>
          </a:p>
          <a:p>
            <a:r>
              <a:rPr lang="tr-TR" sz="1200" dirty="0"/>
              <a:t>│    ├── </a:t>
            </a:r>
            <a:r>
              <a:rPr lang="tr-TR" sz="1200" dirty="0" err="1"/>
              <a:t>Traffic</a:t>
            </a:r>
            <a:r>
              <a:rPr lang="tr-TR" sz="1200" dirty="0"/>
              <a:t>: </a:t>
            </a:r>
            <a:r>
              <a:rPr lang="tr-TR" sz="1200" dirty="0" err="1"/>
              <a:t>apiadressbulma.py</a:t>
            </a:r>
            <a:r>
              <a:rPr lang="tr-TR" sz="1200" dirty="0"/>
              <a:t> → </a:t>
            </a:r>
            <a:r>
              <a:rPr lang="tr-TR" sz="1200" dirty="0" err="1"/>
              <a:t>Apivericekme.py</a:t>
            </a:r>
            <a:r>
              <a:rPr lang="tr-TR" sz="1200" dirty="0"/>
              <a:t> → sxk9jw_API_TAM.csv        │     │ 					│</a:t>
            </a:r>
          </a:p>
          <a:p>
            <a:r>
              <a:rPr lang="tr-TR" sz="1200" dirty="0"/>
              <a:t>│     └── </a:t>
            </a:r>
            <a:r>
              <a:rPr lang="tr-TR" sz="1200" dirty="0" err="1"/>
              <a:t>Air</a:t>
            </a:r>
            <a:r>
              <a:rPr lang="tr-TR" sz="1200" dirty="0"/>
              <a:t> </a:t>
            </a:r>
            <a:r>
              <a:rPr lang="tr-TR" sz="1200" dirty="0" err="1"/>
              <a:t>Quality</a:t>
            </a:r>
            <a:r>
              <a:rPr lang="tr-TR" sz="1200" dirty="0"/>
              <a:t>: untitled0.py → D100_AQI_2024.csv           	│                                                  │					│</a:t>
            </a:r>
          </a:p>
          <a:p>
            <a:r>
              <a:rPr lang="tr-TR" sz="1200" dirty="0"/>
              <a:t>│  </a:t>
            </a:r>
            <a:r>
              <a:rPr lang="tr-TR" sz="1200" dirty="0" err="1"/>
              <a:t>Stage</a:t>
            </a:r>
            <a:r>
              <a:rPr lang="tr-TR" sz="1200" dirty="0"/>
              <a:t> 2: Data Integration                    			│</a:t>
            </a:r>
          </a:p>
          <a:p>
            <a:r>
              <a:rPr lang="tr-TR" sz="1200" dirty="0"/>
              <a:t>│    └── </a:t>
            </a:r>
            <a:r>
              <a:rPr lang="tr-TR" sz="1200" dirty="0" err="1"/>
              <a:t>databirlestirme.py</a:t>
            </a:r>
            <a:r>
              <a:rPr lang="tr-TR" sz="1200" dirty="0"/>
              <a:t> → </a:t>
            </a:r>
            <a:r>
              <a:rPr lang="tr-TR" sz="1200" dirty="0" err="1"/>
              <a:t>FINAL_merged_data.csv</a:t>
            </a:r>
            <a:r>
              <a:rPr lang="tr-TR" sz="1200" dirty="0"/>
              <a:t>		│</a:t>
            </a:r>
          </a:p>
          <a:p>
            <a:r>
              <a:rPr lang="tr-TR" sz="1200" dirty="0"/>
              <a:t>│        • </a:t>
            </a:r>
            <a:r>
              <a:rPr lang="tr-TR" sz="1200" dirty="0" err="1"/>
              <a:t>Timestamp</a:t>
            </a:r>
            <a:r>
              <a:rPr lang="tr-TR" sz="1200" dirty="0"/>
              <a:t> </a:t>
            </a:r>
            <a:r>
              <a:rPr lang="tr-TR" sz="1200" dirty="0" err="1"/>
              <a:t>merging</a:t>
            </a:r>
            <a:r>
              <a:rPr lang="tr-TR" sz="1200" dirty="0"/>
              <a:t> 				│</a:t>
            </a:r>
          </a:p>
          <a:p>
            <a:r>
              <a:rPr lang="tr-TR" sz="1200" dirty="0"/>
              <a:t>│        • </a:t>
            </a:r>
            <a:r>
              <a:rPr lang="tr-TR" sz="1200" dirty="0" err="1"/>
              <a:t>Missing</a:t>
            </a:r>
            <a:r>
              <a:rPr lang="tr-TR" sz="1200" dirty="0"/>
              <a:t> </a:t>
            </a:r>
            <a:r>
              <a:rPr lang="tr-TR" sz="1200" dirty="0" err="1"/>
              <a:t>values</a:t>
            </a:r>
            <a:r>
              <a:rPr lang="tr-TR" sz="1200" dirty="0"/>
              <a:t>     				│</a:t>
            </a:r>
          </a:p>
          <a:p>
            <a:r>
              <a:rPr lang="tr-TR" sz="1200" dirty="0"/>
              <a:t>│        • </a:t>
            </a:r>
            <a:r>
              <a:rPr lang="tr-TR" sz="1200" dirty="0" err="1"/>
              <a:t>Outlier</a:t>
            </a:r>
            <a:r>
              <a:rPr lang="tr-TR" sz="1200" dirty="0"/>
              <a:t> </a:t>
            </a:r>
            <a:r>
              <a:rPr lang="tr-TR" sz="1200" dirty="0" err="1"/>
              <a:t>detection</a:t>
            </a:r>
            <a:r>
              <a:rPr lang="tr-TR" sz="1200" dirty="0"/>
              <a:t> 				│</a:t>
            </a:r>
          </a:p>
          <a:p>
            <a:r>
              <a:rPr lang="tr-TR" sz="1200"/>
              <a:t>│        </a:t>
            </a:r>
            <a:r>
              <a:rPr lang="tr-TR" sz="1200" dirty="0"/>
              <a:t>• </a:t>
            </a:r>
            <a:r>
              <a:rPr lang="tr-TR" sz="1200" dirty="0" err="1"/>
              <a:t>Validation</a:t>
            </a:r>
            <a:r>
              <a:rPr lang="tr-TR" sz="1200" dirty="0"/>
              <a:t>         				│                                                  │					│</a:t>
            </a:r>
          </a:p>
          <a:p>
            <a:r>
              <a:rPr lang="tr-TR" sz="1200" dirty="0"/>
              <a:t>│  </a:t>
            </a:r>
            <a:r>
              <a:rPr lang="tr-TR" sz="1200" dirty="0" err="1"/>
              <a:t>Stage</a:t>
            </a:r>
            <a:r>
              <a:rPr lang="tr-TR" sz="1200" dirty="0"/>
              <a:t> 3: </a:t>
            </a:r>
            <a:r>
              <a:rPr lang="tr-TR" sz="1200" dirty="0" err="1"/>
              <a:t>Feature</a:t>
            </a:r>
            <a:r>
              <a:rPr lang="tr-TR" sz="1200" dirty="0"/>
              <a:t> </a:t>
            </a:r>
            <a:r>
              <a:rPr lang="tr-TR" sz="1200" dirty="0" err="1"/>
              <a:t>Engineering</a:t>
            </a:r>
            <a:r>
              <a:rPr lang="tr-TR" sz="1200" dirty="0"/>
              <a:t>                   			│</a:t>
            </a:r>
          </a:p>
          <a:p>
            <a:r>
              <a:rPr lang="tr-TR" sz="1200" dirty="0"/>
              <a:t>│    └─ </a:t>
            </a:r>
            <a:r>
              <a:rPr lang="tr-TR" sz="1200" dirty="0" err="1"/>
              <a:t>master_enrichment_DESKTOP.py</a:t>
            </a:r>
            <a:r>
              <a:rPr lang="tr-TR" sz="1200" dirty="0"/>
              <a:t> → </a:t>
            </a:r>
            <a:r>
              <a:rPr lang="tr-TR" sz="1200" dirty="0" err="1"/>
              <a:t>MASTER_enriched_data.csv</a:t>
            </a:r>
            <a:r>
              <a:rPr lang="tr-TR" sz="1200" dirty="0"/>
              <a:t> 	│ </a:t>
            </a:r>
          </a:p>
          <a:p>
            <a:r>
              <a:rPr lang="tr-TR" sz="1200" dirty="0"/>
              <a:t>│ 	• Temporal 				│</a:t>
            </a:r>
          </a:p>
          <a:p>
            <a:r>
              <a:rPr lang="tr-TR" sz="1200" dirty="0"/>
              <a:t>│ 	• Holiday 				│</a:t>
            </a:r>
          </a:p>
          <a:p>
            <a:r>
              <a:rPr lang="tr-TR" sz="1200" dirty="0"/>
              <a:t>│	• </a:t>
            </a:r>
            <a:r>
              <a:rPr lang="tr-TR" sz="1200" dirty="0" err="1"/>
              <a:t>Traffic</a:t>
            </a:r>
            <a:r>
              <a:rPr lang="tr-TR" sz="1200" dirty="0"/>
              <a:t> 				│</a:t>
            </a:r>
          </a:p>
          <a:p>
            <a:r>
              <a:rPr lang="tr-TR" sz="1200" dirty="0"/>
              <a:t>│     	• </a:t>
            </a:r>
            <a:r>
              <a:rPr lang="tr-TR" sz="1200" dirty="0" err="1"/>
              <a:t>Lag</a:t>
            </a:r>
            <a:r>
              <a:rPr lang="tr-TR" sz="1200" dirty="0"/>
              <a:t>     				│</a:t>
            </a:r>
          </a:p>
          <a:p>
            <a:r>
              <a:rPr lang="tr-TR" sz="1200" dirty="0"/>
              <a:t>└───────────────────────────────────────────────────────────┘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38846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</a:rPr>
              <a:t>Hypothesis Testing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188720" cy="2286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543D"/>
                </a:solidFill>
              </a:rPr>
              <a:t>✓ SUPPORTED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0" y="118872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H1: Traffic-Pollution Correlation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46304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Vehicle Count ↔ NO₂: r = 0.28, p &lt; 0.001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188720" cy="228600"/>
          </a:xfrm>
          <a:prstGeom prst="rect">
            <a:avLst/>
          </a:prstGeom>
          <a:solidFill>
            <a:srgbClr val="FEEBC8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543D"/>
                </a:solidFill>
              </a:rPr>
              <a:t>⚠ PARTIAL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81051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H2: Time Lag Effect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08483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Lag effects 0-6h, not consistently at 2h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32304"/>
            <a:ext cx="1188720" cy="2286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543D"/>
                </a:solidFill>
              </a:rPr>
              <a:t>✓ SUPPORTED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432304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H3: Holiday Effect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706624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-13.7% traffic, -7.5% NO₂ (p &lt; 0.001)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054096"/>
            <a:ext cx="1188720" cy="2286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543D"/>
                </a:solidFill>
              </a:rPr>
              <a:t>✓ SUPPORTED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3054096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H4: Weekend Effect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3328416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-9.7% traffic, -7.6% NO₂ (p &lt; 0.001)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1188720" cy="2286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543D"/>
                </a:solidFill>
              </a:rPr>
              <a:t>✓ SUPPORTED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3675888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H5: Rush Hour Peaks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3950208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ANOVA significant (p &lt; 0.001)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BB78"/>
                </a:solidFill>
              </a:rPr>
              <a:t>4/5 Hypotheses Fully Supported, 1/5 Partially Supported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1. Traffic-Pollution Relationship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Correlation exists (r = 0.28, p &lt; 0.001) but weak-moderate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>
                <a:solidFill>
                  <a:srgbClr val="4A5568"/>
                </a:solidFill>
              </a:rPr>
              <a:t>• Traffic </a:t>
            </a:r>
            <a:r>
              <a:rPr lang="en-US" sz="1100" dirty="0">
                <a:solidFill>
                  <a:srgbClr val="4A5568"/>
                </a:solidFill>
              </a:rPr>
              <a:t>explains ~5% of NO₂ variance (ML model R² = 0.05)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Effect is indirect and lagged, not immediate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68096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2. Temporal Patterns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Rush hours (7-9h, 17-19h) show significant peaks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1089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Weekend effect: 7.6% NO₂ reduction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3832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Higher pollution in winter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3. Policy-Relevant Insights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1148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Holiday effect: -13.7% traffic → -7.5% NO₂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Slower traffic = higher emissions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6634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Time-specific interventions most effective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</a:rPr>
              <a:t>Machine Learning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840480" cy="3657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3030"/>
                </a:solidFill>
              </a:rPr>
              <a:t>Causal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840480" cy="2011680"/>
          </a:xfrm>
          <a:prstGeom prst="rect">
            <a:avLst/>
          </a:prstGeom>
          <a:solidFill>
            <a:srgbClr val="FF7E79">
              <a:alpha val="20000"/>
            </a:srgbClr>
          </a:solidFill>
          <a:ln/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Purpose: </a:t>
            </a:r>
            <a:r>
              <a:rPr lang="en-US" sz="1300" dirty="0">
                <a:solidFill>
                  <a:srgbClr val="4A5568"/>
                </a:solidFill>
              </a:rPr>
              <a:t>Measure traffic's TRUE effect
</a:t>
            </a:r>
            <a:r>
              <a:rPr lang="en-US" sz="1300" b="1" dirty="0">
                <a:solidFill>
                  <a:srgbClr val="4A5568"/>
                </a:solidFill>
              </a:rPr>
              <a:t>NO₂_lag: </a:t>
            </a:r>
            <a:r>
              <a:rPr lang="en-US" sz="1300" dirty="0">
                <a:solidFill>
                  <a:srgbClr val="4A5568"/>
                </a:solidFill>
              </a:rPr>
              <a:t>❌ Excluded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R² = </a:t>
            </a:r>
            <a:r>
              <a:rPr lang="en-US" sz="1300" b="1" dirty="0">
                <a:solidFill>
                  <a:srgbClr val="C53030"/>
                </a:solidFill>
              </a:rPr>
              <a:t>0.12
</a:t>
            </a:r>
            <a:r>
              <a:rPr lang="en-US" sz="1300" b="1" dirty="0">
                <a:solidFill>
                  <a:srgbClr val="4A5568"/>
                </a:solidFill>
              </a:rPr>
              <a:t>RMSE: </a:t>
            </a:r>
            <a:r>
              <a:rPr lang="en-US" sz="1300" dirty="0">
                <a:solidFill>
                  <a:srgbClr val="4A5568"/>
                </a:solidFill>
              </a:rPr>
              <a:t>32.9 µg/m³
</a:t>
            </a:r>
            <a:r>
              <a:rPr lang="en-US" sz="1300" b="1" dirty="0">
                <a:solidFill>
                  <a:srgbClr val="4A5568"/>
                </a:solidFill>
              </a:rPr>
              <a:t>Use: </a:t>
            </a:r>
            <a:r>
              <a:rPr lang="en-US" sz="1300" dirty="0">
                <a:solidFill>
                  <a:srgbClr val="4A5568"/>
                </a:solidFill>
              </a:rPr>
              <a:t>"What if traffic ↓ 20%?"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543D"/>
                </a:solidFill>
              </a:rPr>
              <a:t>Forecasting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840480" cy="2011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</a:rPr>
              <a:t>Purpose: </a:t>
            </a:r>
            <a:r>
              <a:rPr lang="en-US" sz="1300" dirty="0">
                <a:solidFill>
                  <a:srgbClr val="4A5568"/>
                </a:solidFill>
              </a:rPr>
              <a:t>Accurate NO₂ prediction
</a:t>
            </a:r>
            <a:r>
              <a:rPr lang="en-US" sz="1300" b="1" dirty="0">
                <a:solidFill>
                  <a:srgbClr val="4A5568"/>
                </a:solidFill>
              </a:rPr>
              <a:t>NO₂_lag: </a:t>
            </a:r>
            <a:r>
              <a:rPr lang="en-US" sz="1300" dirty="0">
                <a:solidFill>
                  <a:srgbClr val="4A5568"/>
                </a:solidFill>
              </a:rPr>
              <a:t>✅ Included
</a:t>
            </a:r>
            <a:r>
              <a:rPr lang="en-US" sz="1300" b="1" dirty="0">
                <a:solidFill>
                  <a:srgbClr val="4A5568"/>
                </a:solidFill>
              </a:rPr>
              <a:t>R² = </a:t>
            </a:r>
            <a:r>
              <a:rPr lang="en-US" sz="1300" b="1" dirty="0">
                <a:solidFill>
                  <a:srgbClr val="22543D"/>
                </a:solidFill>
              </a:rPr>
              <a:t>0.71
</a:t>
            </a:r>
            <a:r>
              <a:rPr lang="en-US" sz="1300" b="1" dirty="0">
                <a:solidFill>
                  <a:srgbClr val="4A5568"/>
                </a:solidFill>
              </a:rPr>
              <a:t>RMSE: </a:t>
            </a:r>
            <a:r>
              <a:rPr lang="en-US" sz="1300" dirty="0">
                <a:solidFill>
                  <a:srgbClr val="4A5568"/>
                </a:solidFill>
              </a:rPr>
              <a:t>18.9 µg/m³
</a:t>
            </a:r>
            <a:r>
              <a:rPr lang="en-US" sz="1300" b="1" dirty="0">
                <a:solidFill>
                  <a:srgbClr val="4A5568"/>
                </a:solidFill>
              </a:rPr>
              <a:t>Use: </a:t>
            </a:r>
            <a:r>
              <a:rPr lang="en-US" sz="1300" dirty="0">
                <a:solidFill>
                  <a:srgbClr val="4A5568"/>
                </a:solidFill>
              </a:rPr>
              <a:t>"What will NO₂ be in 2h?"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7EEA"/>
                </a:solidFill>
              </a:rPr>
              <a:t>500% R² improvement demonstrates NO₂'s strong autocorrelation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1. Exploratory Data Analysis (EDA)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Descriptive statistics &amp; distribution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85623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Temporal patterns (hourly, daily, seasonal)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Correlation analysis &amp; 10 visualizations (300 DPI)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05456"/>
            <a:ext cx="768096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2. Statistical Hypothesis Testing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916936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Pearson correlations, t-tests, ANOVA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172968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Cohen's d effect size calculations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Significance level: α = 0.05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22192"/>
            <a:ext cx="768096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3. Machine Learning (CORRECTED)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23367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Causal: Traffic effect (NO₂_lag excluded)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48970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Forecasting: Prediction (NO₂_lag included)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745736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TimeSeriesSplit validation, XGBoost/LightGBM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</a:rPr>
              <a:t>Limitations &amp;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</a:rPr>
              <a:t>1. Geographic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Limited to single D-100 location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2743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</a:rPr>
              <a:t>2. Missing Weather Data ⚠️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Wind, temperature, humidity not included (CRITICAL)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</a:rPr>
              <a:t>3. Temporal Coverage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768096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2024 data only - multi-year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7680960" cy="2743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</a:rPr>
              <a:t>4. Confounding Variables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Industrial emissions not separately quantified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</a:rPr>
              <a:t>5. Class Imbalance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768096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Rare AQI categories (&lt;2%) hard to predict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</a:rPr>
              <a:t>Future Research Directions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1. Integrate Meteorological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Wind speed/direction, temperature, humidity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Expected impact: R² 0.70 → 0.85+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75688"/>
            <a:ext cx="768096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2. Spatial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395728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Multi-location modeling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624328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Kriging for spatial interpolation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62656"/>
            <a:ext cx="768096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3. Advanced Modeling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282696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LSTM for long-term dependencies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511296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Causal inference (DoWhy framework)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849624"/>
            <a:ext cx="768096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4. Multi-Year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16966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Long-term trends 2020-2025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39826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COVID-19 impact 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371600" y="1188720"/>
            <a:ext cx="6400800" cy="320040"/>
          </a:xfrm>
          <a:prstGeom prst="rect">
            <a:avLst/>
          </a:prstGeom>
          <a:solidFill>
            <a:srgbClr val="48BB78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Main Conclusions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6400800" cy="1005840"/>
          </a:xfrm>
          <a:prstGeom prst="rect">
            <a:avLst/>
          </a:prstGeom>
          <a:solidFill>
            <a:srgbClr val="38A169"/>
          </a:solidFill>
          <a:ln/>
        </p:spPr>
        <p:txBody>
          <a:bodyPr wrap="square" lIns="1905" tIns="1905" rIns="1905" bIns="1905" rtlCol="0" anchor="ctr"/>
          <a:lstStyle/>
          <a:p>
            <a:pPr lvl="1"/>
            <a:r>
              <a:rPr lang="en-US" sz="1200" dirty="0">
                <a:solidFill>
                  <a:srgbClr val="FFFFFF"/>
                </a:solidFill>
              </a:rPr>
              <a:t>✓  Traffic and NO₂ statistically correlated (r=0.28, p&lt;0.001)
✓  However, traffic alone explains only ~10-15% of pollution
✓  NO₂ is highly autocorrelated (past → future)
✓  Weather factors (missing) are critical
✓  Temporal interventions (holidays, weekends) DO 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Policy Implications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Holiday effect: -13.7% traffic → -7.5% NO₂
• Target rush hours: 7-9h and 17-19h
• Traffic reduction alone insufficient - need comprehensive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Academic Contributions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114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• Rigorous TimeSeriesSplit validation
• Causal vs forecasting distinction
• 17 high-quality visualizations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1124</Words>
  <Application>Microsoft Macintosh PowerPoint</Application>
  <PresentationFormat>Ekran Gösterisi (16:9)</PresentationFormat>
  <Paragraphs>146</Paragraphs>
  <Slides>12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DSA210 Project Presentation</dc:title>
  <dc:subject>Traffic &amp; Air Quality Analysis - Istanbul</dc:subject>
  <dc:creator>Miray Erkoç</dc:creator>
  <cp:lastModifiedBy>miray erkoc</cp:lastModifiedBy>
  <cp:revision>5</cp:revision>
  <dcterms:created xsi:type="dcterms:W3CDTF">2026-01-03T12:44:28Z</dcterms:created>
  <dcterms:modified xsi:type="dcterms:W3CDTF">2026-01-09T16:44:33Z</dcterms:modified>
</cp:coreProperties>
</file>